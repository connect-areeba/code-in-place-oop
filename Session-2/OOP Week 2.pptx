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7" r:id="rId2"/>
    <p:sldId id="276" r:id="rId3"/>
    <p:sldId id="290" r:id="rId4"/>
    <p:sldId id="292" r:id="rId5"/>
    <p:sldId id="293" r:id="rId6"/>
    <p:sldId id="291" r:id="rId7"/>
    <p:sldId id="295" r:id="rId8"/>
    <p:sldId id="296" r:id="rId9"/>
    <p:sldId id="297" r:id="rId10"/>
    <p:sldId id="298" r:id="rId11"/>
    <p:sldId id="300" r:id="rId12"/>
    <p:sldId id="299" r:id="rId13"/>
    <p:sldId id="301" r:id="rId14"/>
    <p:sldId id="303" r:id="rId15"/>
    <p:sldId id="304" r:id="rId16"/>
    <p:sldId id="305" r:id="rId17"/>
    <p:sldId id="302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86381" autoAdjust="0"/>
  </p:normalViewPr>
  <p:slideViewPr>
    <p:cSldViewPr snapToGrid="0">
      <p:cViewPr varScale="1">
        <p:scale>
          <a:sx n="59" d="100"/>
          <a:sy n="59" d="100"/>
        </p:scale>
        <p:origin x="1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258F6-6694-4D95-BC29-E76D5E7C678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BBED4-11EB-45C4-88FE-D941480A8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38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5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3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4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2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2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9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1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3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05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7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6438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60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70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7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54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107FD-B19E-40FB-A6BB-9350A73553F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C3CAB-9956-454B-8347-CCD88B30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85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C406-9B70-3CF1-672D-CBC7D306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6FED5-44E9-3948-81E4-0C1F380D8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38692"/>
            <a:ext cx="8791575" cy="2387600"/>
          </a:xfrm>
        </p:spPr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9D744-2F47-4FE5-7801-287E52B13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Week 2: class, object, encapsulation, simple </a:t>
            </a:r>
            <a:r>
              <a:rPr lang="en-US" sz="4000" dirty="0" err="1"/>
              <a:t>uml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43313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0DB4-414E-1BE2-D551-42D451E2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5B20-83A5-D3D1-7DFD-50D144B5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ULTRA FAST-CONCEPT RECAP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658F1C-311D-8C00-C5D2-56B4A5CD0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59345"/>
              </p:ext>
            </p:extLst>
          </p:nvPr>
        </p:nvGraphicFramePr>
        <p:xfrm>
          <a:off x="994456" y="1802380"/>
          <a:ext cx="9905998" cy="361870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952999">
                  <a:extLst>
                    <a:ext uri="{9D8B030D-6E8A-4147-A177-3AD203B41FA5}">
                      <a16:colId xmlns:a16="http://schemas.microsoft.com/office/drawing/2014/main" val="395899811"/>
                    </a:ext>
                  </a:extLst>
                </a:gridCol>
                <a:gridCol w="4952999">
                  <a:extLst>
                    <a:ext uri="{9D8B030D-6E8A-4147-A177-3AD203B41FA5}">
                      <a16:colId xmlns:a16="http://schemas.microsoft.com/office/drawing/2014/main" val="502082692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Means (in 5 words or less)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174324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Blueprint for objects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5013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 instance of a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6815246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Encapsulation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Hide data, expose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947138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UML Class Diagram</a:t>
                      </a:r>
                      <a:endParaRPr 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sketch of class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5844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AC2E38-3F84-2309-DA13-BF105EF2F57C}"/>
              </a:ext>
            </a:extLst>
          </p:cNvPr>
          <p:cNvSpPr txBox="1"/>
          <p:nvPr/>
        </p:nvSpPr>
        <p:spPr>
          <a:xfrm>
            <a:off x="1141413" y="5630273"/>
            <a:ext cx="61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We’ll see all of these in code — right now!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7A3B-0F0C-5900-DF27-E98D9598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7082-1510-C69D-ED3F-758096BD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15E8C-AFF8-AB99-5140-854D2CDE7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&lt;string&gt;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private: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string owner;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double balance; // Hidden from outside!</a:t>
            </a:r>
          </a:p>
        </p:txBody>
      </p:sp>
    </p:spTree>
    <p:extLst>
      <p:ext uri="{BB962C8B-B14F-4D97-AF65-F5344CB8AC3E}">
        <p14:creationId xmlns:p14="http://schemas.microsoft.com/office/powerpoint/2010/main" val="141898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435C-0C00-562D-7DEF-A5378754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8905-71AD-4EA7-D01D-33ED5EAF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94556A-E2A9-B4D9-7F4C-C9ECA236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public:   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Constructor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(string name, double initial)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owner = name;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balance = initial;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Public interface (safe access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void deposit(double amount)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if (amount &gt; 0) balance += amount;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09314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1019-CF2E-4FE0-A965-B1366AF3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D43F-6845-1A89-51C7-BA37B2AB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69E8B7-DDD6-D457-1E32-79D910F9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1423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bool withdraw(double amount)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if (amount &lt;= balance &amp;&amp; amount &gt; 0)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balance -= amount;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return true;       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return false;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void display()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"Owner: " &lt;&lt; owner &lt;&lt; ", Balance: $" &lt;&lt; balance &lt;&lt; "\n";   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7125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F71A-EA28-D287-3FB6-7C9C9E58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71A1-7F07-9B2E-6ED6-6746C0A2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CE346B-F519-96E2-F9AB-B8C609904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Code…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Points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 → data hidden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encapsulation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 → safe interaction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create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next!</a:t>
            </a:r>
          </a:p>
        </p:txBody>
      </p:sp>
    </p:spTree>
    <p:extLst>
      <p:ext uri="{BB962C8B-B14F-4D97-AF65-F5344CB8AC3E}">
        <p14:creationId xmlns:p14="http://schemas.microsoft.com/office/powerpoint/2010/main" val="354317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DD59-DE84-E020-FF64-1A3850C4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B536-AB95-38CD-2D5C-10385657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732F01-D7E9-4359-D1EC-1E67D3683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// Create two OBJECTS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acc1("Ali", 100.0);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acc2("Sara", 50.0);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acc1.deposit(25);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acc2.withdraw(10);</a:t>
            </a:r>
          </a:p>
        </p:txBody>
      </p:sp>
    </p:spTree>
    <p:extLst>
      <p:ext uri="{BB962C8B-B14F-4D97-AF65-F5344CB8AC3E}">
        <p14:creationId xmlns:p14="http://schemas.microsoft.com/office/powerpoint/2010/main" val="406187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EB8B-06E1-2686-C084-25FFA9AB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8971-5364-D51A-CB6E-218615A8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Live Demo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(Encapsulation in Action)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E90A2C-10B5-C0C5-120F-0A7B058A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acc1.display();  // Owner: Ali, Balance: $125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acc2.display();  // Owner: Sara, Balance: $40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// ❌ This would cause ERROR: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acc1.balance;  // 'balance' is private!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672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2CEF-9973-CA90-0800-B4CC45F6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FFC6-21DF-EC23-1348-9EBF8688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UML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B7B068-8E5A-C27F-1909-93DAABC9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92931"/>
            <a:ext cx="9905999" cy="503849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+---------------------+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 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BankAccount</a:t>
            </a: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     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+---------------------+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- owner: string   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- balance: double 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+---------------------+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+ deposit(amount) 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+ withdraw(amount)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| + display()         |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+---------------------+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278417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03EA-72F4-A890-2AB4-ABC89368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AF00-D8AF-4DB9-2D7F-76536DE9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2538E0-11E7-4A42-BBE8-13E318F70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Student class with: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Private: name (string),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rollNo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(int),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(float)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Constructor (name,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rollNo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updateGPA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(float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→ only</a:t>
            </a:r>
          </a:p>
        </p:txBody>
      </p:sp>
    </p:spTree>
    <p:extLst>
      <p:ext uri="{BB962C8B-B14F-4D97-AF65-F5344CB8AC3E}">
        <p14:creationId xmlns:p14="http://schemas.microsoft.com/office/powerpoint/2010/main" val="2698662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C2A7A-D54D-FBE3-F966-9580CD6F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67D9-EB5A-F55E-5234-B50CC87F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F4CD23-DFFB-4D91-442D-3B51A9BE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0.0 ≤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≤ 4.0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printInfo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→ prints all details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 main()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2 student objects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 one GPA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Print both</a:t>
            </a:r>
          </a:p>
        </p:txBody>
      </p:sp>
    </p:spTree>
    <p:extLst>
      <p:ext uri="{BB962C8B-B14F-4D97-AF65-F5344CB8AC3E}">
        <p14:creationId xmlns:p14="http://schemas.microsoft.com/office/powerpoint/2010/main" val="365431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AA2C-B642-DE3A-2436-AE1E4CA6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C726-CC32-C196-A16C-92CDE129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DB4B28-471B-E7E7-61B6-412D0A7D8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&lt;string&gt;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Student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string name;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int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rollNo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float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3987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3CC0-FF0F-EC93-22B8-6386BA0F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DD5C-297C-C3A5-F1E1-A0598ED6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5722C-E747-0391-6729-A26FE3689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Student(string n, int r, float g) {    // Constructor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name = n;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rollNo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r;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(g &gt;= 0.0f &amp;&amp; g &lt;= 4.0f)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g;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else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0.0f; // default if invalid   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9341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76EE-840D-B8F9-3DF9-49C91B72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93F0-B7DC-3F26-A385-9761457B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C81E67-B62D-7738-09DC-6FD772080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// Update GPA with validation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updateGPA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(float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&gt;= 0.0f &amp;&amp;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&lt;= 4.0f)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 else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"Invalid GPA! Must be between 0.0 and 4.0.\n";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977472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CD91-2414-F49F-050C-7E226056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93C3-C097-C8E7-2D9C-62CB0BCC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901641-6982-646D-E288-783D027F9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// Print student info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printInfo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"Name: " &lt;&lt; name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&lt;&lt; ", Roll No: " &lt;&lt;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rollNo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&lt;&lt; ", GPA: " &lt;&lt;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7251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E7FB-87CD-454E-BD74-E29B3F17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C580-C9D2-9BB9-3504-C94094CF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8A8590-7454-DAF4-D6C6-C2B79B5A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Main function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Student s1("Ali", 101, 3.5);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Student s2("Sara", 102, 2.8);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s1.updateGPA(3.9);   // Valid update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s2.updateGPA(5.0);   // Invalid – will show warning</a:t>
            </a:r>
          </a:p>
        </p:txBody>
      </p:sp>
    </p:spTree>
    <p:extLst>
      <p:ext uri="{BB962C8B-B14F-4D97-AF65-F5344CB8AC3E}">
        <p14:creationId xmlns:p14="http://schemas.microsoft.com/office/powerpoint/2010/main" val="2454005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890D-9F8D-B9C6-7A16-56BCA4F25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4D18-A750-5346-839F-4DF111F8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1 – Student Record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2D3E3-BFBF-A1C6-7DD6-7D0A0FC03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s1.printInfo();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s2.printInfo();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return 0;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0559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17BC-45C2-9014-8E3B-D441145A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CA9D-020B-E90D-F660-8E84E6F8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BEFACD-3BA0-88A2-9850-DC2139369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Build a Rectangle class with: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Private: length, width (both double)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Public: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Constructor (with validation: &gt; 0)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double area()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double perimeter()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bool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isSquare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→ returns true if length == width</a:t>
            </a:r>
          </a:p>
        </p:txBody>
      </p:sp>
    </p:spTree>
    <p:extLst>
      <p:ext uri="{BB962C8B-B14F-4D97-AF65-F5344CB8AC3E}">
        <p14:creationId xmlns:p14="http://schemas.microsoft.com/office/powerpoint/2010/main" val="72248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D719-1498-C085-EF2A-F08B63C9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E670-7C54-C1B3-A47D-AC4B3090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9E8EBD-513D-24C1-5EFF-3DED2E37A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a method void scale(double factor) that multiplies both dimensions by factor (only if factor &gt; 0).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Encapsulation ensures invalid rectangles can’t be created!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916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E81D5-E2E6-41FD-8BC4-CA5C4E64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7DE2-B187-C8F5-80FB-EC8397A2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FAB2E5-4CF9-395E-A391-A9E6C0F6D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Rectangle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double length;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double width;</a:t>
            </a:r>
          </a:p>
        </p:txBody>
      </p:sp>
    </p:spTree>
    <p:extLst>
      <p:ext uri="{BB962C8B-B14F-4D97-AF65-F5344CB8AC3E}">
        <p14:creationId xmlns:p14="http://schemas.microsoft.com/office/powerpoint/2010/main" val="1535798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3809A-F775-F666-39C5-EEA7D222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78C8-C9D3-F0EF-9A49-BB554138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400A4C-34BC-7E08-1EEC-0BA0966D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55512"/>
            <a:ext cx="9905999" cy="41839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Rectangle(double l, double w) {   // Constructor with validation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(l &gt; 0 &amp;&amp; w &gt; 0)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length = l;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width = w;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 else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"Error: Dimensions must be positive. Setting to 1x1.\n";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length = width = 1.0;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773232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E0B0-6D59-B56A-D254-EBE58065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BC66-0F0E-F8BC-E196-29F5892F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07A916-D9B5-D0A2-B26E-AB1A8EB53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double area()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return length * width;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double perimeter()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return 2 * (length + width);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bool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isSquare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return (length == width);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26405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C0D0-13C9-065E-C06F-C876C6A2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38C3-BCDA-4982-8211-37A0EF92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8E329C-3965-C315-DEA8-6EA0EE82B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// Challenge: Scale the rectangle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void scale(double factor)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(factor &gt; 0)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length *= factor;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width *= factor;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 else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"Scale factor must be positive!\n";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07972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38C4-4C82-3B1D-9B7E-7D4949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9D66-4EB3-CF76-88CB-E11D43BE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1BAF40-A217-503E-968D-EAA63EE1C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Main function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Rectangle r1(5.0, 3.0);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Rectangle r2(4.0, 4.0);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"r1 Area: " &lt;&lt; r1.area() &lt;&lt; ", Perimeter: " &lt;&lt; r1.perimeter()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&lt;&lt; ", Is Square? " &lt;&lt; (r1.isSquare() ? "Yes" : "No") &lt;&lt; "\n";</a:t>
            </a:r>
          </a:p>
        </p:txBody>
      </p:sp>
    </p:spTree>
    <p:extLst>
      <p:ext uri="{BB962C8B-B14F-4D97-AF65-F5344CB8AC3E}">
        <p14:creationId xmlns:p14="http://schemas.microsoft.com/office/powerpoint/2010/main" val="2956292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95A6-C017-6AE6-E307-679723DF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8612-DBD2-A57F-4577-A6A85D85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2 – Rectangle Calculator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A2685F-992F-DFDB-7B61-C388E83B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"r2 Area: " &lt;&lt; r2.area() &lt;&lt; ", Perimeter: " &lt;&lt; r2.perimeter()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&lt;&lt; ", Is Square? " &lt;&lt; (r2.isSquare() ? "Yes" : "No") &lt;&lt; "\n";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r1.scale(2.0);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"After scaling r1 by 2x: Area = " &lt;&lt; r1.area() &lt;&lt; "\n";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r1.scale(-1); // Should show error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return 0;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8002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3F92-3B3D-8416-70A0-A382244F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CBCD-EFFD-0642-C761-08B81739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7D31D8-9CCA-B32E-A65D-38F95970D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Task: Design a Book class for a library: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Private: title, author,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isbn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(bool)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Constructor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void borrow() → sets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false (only if available)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returnBook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→ sets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true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displayStatus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→ e.g., "Clean Code – Available" or "... – Borrowed"</a:t>
            </a:r>
          </a:p>
        </p:txBody>
      </p:sp>
    </p:spTree>
    <p:extLst>
      <p:ext uri="{BB962C8B-B14F-4D97-AF65-F5344CB8AC3E}">
        <p14:creationId xmlns:p14="http://schemas.microsoft.com/office/powerpoint/2010/main" val="2031772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DCE8-BB5E-E5CD-2CCE-D833801A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ED8-9490-776C-D420-3EF86312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1232A5-DFDB-4D4A-6065-7598F8C3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main():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Create a book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Borrow it → display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Try to borrow again → should not change state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Return → display again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🔐 Encapsulation prevents bugs like “returning an already available book”</a:t>
            </a:r>
          </a:p>
        </p:txBody>
      </p:sp>
    </p:spTree>
    <p:extLst>
      <p:ext uri="{BB962C8B-B14F-4D97-AF65-F5344CB8AC3E}">
        <p14:creationId xmlns:p14="http://schemas.microsoft.com/office/powerpoint/2010/main" val="2499961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BF56-ADEA-B382-2C91-43FB866A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E0732-DB0B-389B-D45C-A19ED0D7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B1B94D-DA66-7855-1511-16792F21A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&lt;iostream&gt;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#include &lt;string&gt;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namespace std;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 Book {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private: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string title;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string author;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string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isbn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bool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10903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2913-3CBD-A8B3-2F48-99F4E2EA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ADED-98F2-AD9F-782A-CED4246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9D56FC-8C12-D9DC-281F-6CF69B4F5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// Constructor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Book(string t, string a, string id)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title = t;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author = a;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isbn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id;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true; // New books are available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189866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604B-148A-0DEF-FE0D-E25C0225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125E-2A66-9D73-D25F-F9F89AAB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373EB8-C996-3F1D-74F0-6F52F12F6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void borrow()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false;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"\"" &lt;&lt; title &lt;&lt; "\" has been borrowed.\n";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 else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"\"" &lt;&lt; title &lt;&lt; "\" is already borrowed!\n";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16187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F53F-5AFC-12FD-96B5-2543432F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36A2-35C7-EEB9-18FC-9BD4BB26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3869C3-0EA0-FB6E-289D-AE15C4D0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returnBook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if (!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"\"" &lt;&lt; title &lt;&lt; "\" has been returned.\n";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 else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"\"" &lt;&lt; title &lt;&lt; "\" was not borrowed!\n";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553548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A481-22D0-E9DA-0F73-9C2EED80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B5FC-9F9B-EAB5-0B6D-4CC2EFCE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1843A0-4781-01A5-DEE1-552B6DB3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void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displayStatus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&lt;&lt; "\"" &lt;&lt; title &lt;&lt; "\" by " &lt;&lt; author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&lt;&lt; " – " &lt;&lt;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isAvailable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 "Available" : "Borrowed") &lt;&lt; "\n";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73364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C0F0-1895-A801-F056-2884F6F8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278F-886E-9858-9715-0B3B9A85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CBD7C-CB53-ED27-1D59-94C4AFBC2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// Main function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 main() {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Book book("Clean Code", "Robert Martin", "978-0132350884");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book.displayStatus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// Available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book.borrow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       // Borrow it</a:t>
            </a:r>
          </a:p>
        </p:txBody>
      </p:sp>
    </p:spTree>
    <p:extLst>
      <p:ext uri="{BB962C8B-B14F-4D97-AF65-F5344CB8AC3E}">
        <p14:creationId xmlns:p14="http://schemas.microsoft.com/office/powerpoint/2010/main" val="3249424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ECEB-F9E4-EAE6-A3C5-44E7DA4E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28AB-14BD-5ADD-C775-6E22ADF7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Practice Problem 3 (Mini Project) – Library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1F9246-AE1F-BBA4-979A-CC746EED5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book.displayStatus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// Borrowed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book.borrow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       // Try again – should fail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book.returnBook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   // Return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book.returnBook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   // Try returning again – should warn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book.displayStatus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      // Available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return 0;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2271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78252-DB9B-B35E-FB00-DDC995CF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F5DE-8112-E44F-E63E-2ACF8591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SUMMARY &amp; WHAT’S NEXT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24BA5E-8A05-88B3-E254-4DED10A04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410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✅ Today you practiced: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Writing classes and creating objects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Using private/public for encapsulation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Modeling real-world things safely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Sketching UML before coding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🔜 Next week: Constructors (deep dive), Destructors, this pointer</a:t>
            </a:r>
          </a:p>
        </p:txBody>
      </p:sp>
    </p:spTree>
    <p:extLst>
      <p:ext uri="{BB962C8B-B14F-4D97-AF65-F5344CB8AC3E}">
        <p14:creationId xmlns:p14="http://schemas.microsoft.com/office/powerpoint/2010/main" val="1686742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69DC-7D66-1909-BABE-674AB690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Qna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15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348</TotalTime>
  <Words>1893</Words>
  <Application>Microsoft Office PowerPoint</Application>
  <PresentationFormat>Widescreen</PresentationFormat>
  <Paragraphs>224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Tw Cen MT</vt:lpstr>
      <vt:lpstr>Circuit</vt:lpstr>
      <vt:lpstr>Object oriented programming</vt:lpstr>
      <vt:lpstr>ULTRA FAST-CONCEPT RECAP</vt:lpstr>
      <vt:lpstr>Live Demo – BankAccount Class (Encapsulation in Action)</vt:lpstr>
      <vt:lpstr>Live Demo – BankAccount Class (Encapsulation in Action)</vt:lpstr>
      <vt:lpstr>Live Demo – BankAccount Class (Encapsulation in Action)</vt:lpstr>
      <vt:lpstr>Live Demo – BankAccount Class (Encapsulation in Action)</vt:lpstr>
      <vt:lpstr>Live Demo – BankAccount Class (Encapsulation in Action)</vt:lpstr>
      <vt:lpstr>Live Demo – BankAccount Class (Encapsulation in Action)</vt:lpstr>
      <vt:lpstr>UML Diagram</vt:lpstr>
      <vt:lpstr>Practice Problem 1 – Student Record</vt:lpstr>
      <vt:lpstr>Practice Problem 1 – Student Record</vt:lpstr>
      <vt:lpstr>Practice Problem 1 – Student Record</vt:lpstr>
      <vt:lpstr>Practice Problem 1 – Student Record</vt:lpstr>
      <vt:lpstr>Practice Problem 1 – Student Record</vt:lpstr>
      <vt:lpstr>Practice Problem 1 – Student Record</vt:lpstr>
      <vt:lpstr>Practice Problem 1 – Student Record</vt:lpstr>
      <vt:lpstr>Practice Problem 1 – Student Record</vt:lpstr>
      <vt:lpstr>Practice Problem 2 – Rectangle Calculator</vt:lpstr>
      <vt:lpstr>Practice Problem 2 – Rectangle Calculator</vt:lpstr>
      <vt:lpstr>Practice Problem 2 – Rectangle Calculator</vt:lpstr>
      <vt:lpstr>Practice Problem 2 – Rectangle Calculator</vt:lpstr>
      <vt:lpstr>Practice Problem 2 – Rectangle Calculator</vt:lpstr>
      <vt:lpstr>Practice Problem 2 – Rectangle Calculator</vt:lpstr>
      <vt:lpstr>Practice Problem 2 – Rectangle Calculator</vt:lpstr>
      <vt:lpstr>Practice Problem 2 – Rectangle Calculator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Practice Problem 3 (Mini Project) – Library Book</vt:lpstr>
      <vt:lpstr>SUMMARY &amp; WHAT’S NEXT</vt:lpstr>
      <vt:lpstr>Qna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12</cp:revision>
  <dcterms:created xsi:type="dcterms:W3CDTF">2025-10-18T10:26:54Z</dcterms:created>
  <dcterms:modified xsi:type="dcterms:W3CDTF">2026-01-19T16:23:01Z</dcterms:modified>
</cp:coreProperties>
</file>